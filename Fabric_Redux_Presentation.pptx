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2" r:id="rId3"/>
    <p:sldId id="257" r:id="rId4"/>
    <p:sldId id="279" r:id="rId5"/>
    <p:sldId id="280" r:id="rId6"/>
    <p:sldId id="283" r:id="rId7"/>
    <p:sldId id="258" r:id="rId8"/>
    <p:sldId id="259" r:id="rId9"/>
    <p:sldId id="278" r:id="rId10"/>
    <p:sldId id="261" r:id="rId11"/>
    <p:sldId id="262" r:id="rId12"/>
    <p:sldId id="277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3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947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6D3E-7894-F116-255B-7B0468C1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D2477-A1B1-A5E6-7C9D-6CF25C4EC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013B6-0A71-2B4A-D590-DCBDB23A0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074E2-316F-BDD5-4037-EE4C7B3B00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310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6B38C-6BF2-16E9-24ED-EBC2D919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6EDD1-A3E3-39C8-69E7-5EB648EA3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76E63-4B33-D258-5F02-E12A53BE1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380B7-6E41-5963-1FC9-D93F94078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756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1077A-2566-9D63-9428-53C5B702A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9F458-970C-03A9-280F-635FCA381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82E78-4737-3DE2-822D-167EE583D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A3F50-F9A8-E08D-AC30-C97FF69B6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522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7113" y="1220242"/>
            <a:ext cx="2949625" cy="415230"/>
          </a:xfrm>
          <a:prstGeom prst="roundRect">
            <a:avLst>
              <a:gd name="adj" fmla="val 9176"/>
            </a:avLst>
          </a:prstGeom>
          <a:solidFill>
            <a:srgbClr val="F4D03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61927" y="1334542"/>
            <a:ext cx="26199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 Microsoft Fabric &amp; Power BI Meetup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4115" y="1864072"/>
            <a:ext cx="747562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Write-Back in Power BI Is Finally Here!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834115" y="2496442"/>
            <a:ext cx="7475622" cy="641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650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Translytical </a:t>
            </a:r>
            <a:r>
              <a:rPr lang="en-US" sz="165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Flows</a:t>
            </a:r>
            <a:br>
              <a:rPr lang="en-US" sz="165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5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Multi-Row CRUD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07405" y="3175546"/>
            <a:ext cx="7329041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4115" y="3447008"/>
            <a:ext cx="747562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Kain | Senior Data Consultant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4115" y="3698379"/>
            <a:ext cx="74756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Tuatara Consulting | January 15,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41BB3-0E1C-3A83-4C4A-AD0F2129F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9B9BB-20A8-86EE-84D6-67B858A860FB}"/>
              </a:ext>
            </a:extLst>
          </p:cNvPr>
          <p:cNvSpPr txBox="1"/>
          <p:nvPr/>
        </p:nvSpPr>
        <p:spPr>
          <a:xfrm>
            <a:off x="2427149" y="4881890"/>
            <a:ext cx="67168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https://www.nimblelearn.com/blog/6-things-you-should-know-about-translytical-task-flows-in-microsoft-fabric/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8BC2743-41EC-E4D9-A85D-D06F6A424CC2}"/>
              </a:ext>
            </a:extLst>
          </p:cNvPr>
          <p:cNvSpPr txBox="1">
            <a:spLocks/>
          </p:cNvSpPr>
          <p:nvPr/>
        </p:nvSpPr>
        <p:spPr>
          <a:xfrm>
            <a:off x="98191" y="253445"/>
            <a:ext cx="2491694" cy="472359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Today's loop: </a:t>
            </a:r>
          </a:p>
          <a:p>
            <a:pPr marL="227013" indent="-227013">
              <a:spcBef>
                <a:spcPts val="600"/>
              </a:spcBef>
              <a:buFont typeface="+mj-lt"/>
              <a:buAutoNum type="arabicPeriod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Bob in accounting sees a report and notices some values need to be updated</a:t>
            </a:r>
          </a:p>
          <a:p>
            <a:pPr marL="227013" indent="-227013">
              <a:spcBef>
                <a:spcPts val="600"/>
              </a:spcBef>
              <a:buFont typeface="+mj-lt"/>
              <a:buAutoNum type="arabicPeriod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He updates the values in one place</a:t>
            </a:r>
          </a:p>
          <a:p>
            <a:pPr marL="227013" indent="-227013">
              <a:spcBef>
                <a:spcPts val="600"/>
              </a:spcBef>
              <a:buFont typeface="+mj-lt"/>
              <a:buAutoNum type="arabicPeriod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Bothers you and half the data team for some updates</a:t>
            </a:r>
          </a:p>
          <a:p>
            <a:pPr marL="227013" indent="-227013">
              <a:spcBef>
                <a:spcPts val="600"/>
              </a:spcBef>
              <a:buFont typeface="+mj-lt"/>
              <a:buAutoNum type="arabicPeriod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You don't get it updated in PROD within 5 minutes of Bob's Teams messages, so he CCs the CTO</a:t>
            </a:r>
          </a:p>
          <a:p>
            <a:pPr marL="227013" indent="-227013">
              <a:spcBef>
                <a:spcPts val="600"/>
              </a:spcBef>
              <a:buFont typeface="+mj-lt"/>
              <a:buAutoNum type="arabicPeriod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You make Bob's updates</a:t>
            </a:r>
          </a:p>
          <a:p>
            <a:pPr marL="227013" indent="-227013">
              <a:spcBef>
                <a:spcPts val="600"/>
              </a:spcBef>
              <a:buFont typeface="+mj-lt"/>
              <a:buAutoNum type="arabicPeriod"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He realizes he needs more</a:t>
            </a:r>
          </a:p>
          <a:p>
            <a:pPr marL="227013" indent="-227013">
              <a:spcBef>
                <a:spcPts val="600"/>
              </a:spcBef>
              <a:buFont typeface="+mj-lt"/>
              <a:buAutoNum type="arabicPeriod"/>
            </a:pP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Round and round we go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32A4E-2269-A8D6-8DDB-BA4A9502E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885" y="256852"/>
            <a:ext cx="6554115" cy="4629796"/>
          </a:xfrm>
          <a:prstGeom prst="rect">
            <a:avLst/>
          </a:prstGeom>
        </p:spPr>
      </p:pic>
      <p:pic>
        <p:nvPicPr>
          <p:cNvPr id="1026" name="Picture 2" descr="Data Science Team Line Icon 14640070 Vector Art at Vecteezy">
            <a:extLst>
              <a:ext uri="{FF2B5EF4-FFF2-40B4-BE49-F238E27FC236}">
                <a16:creationId xmlns:a16="http://schemas.microsoft.com/office/drawing/2014/main" id="{9DEA525E-36E3-A473-8B78-4E203924D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284" y="3467632"/>
            <a:ext cx="589633" cy="589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72E521-F8AB-C651-33D3-1CF2F2BD68CA}"/>
              </a:ext>
            </a:extLst>
          </p:cNvPr>
          <p:cNvSpPr txBox="1"/>
          <p:nvPr/>
        </p:nvSpPr>
        <p:spPr>
          <a:xfrm>
            <a:off x="2716754" y="4007162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Data team </a:t>
            </a:r>
            <a:r>
              <a:rPr lang="en-US" sz="1200">
                <a:sym typeface="Wingdings" panose="05000000000000000000" pitchFamily="2" charset="2"/>
              </a:rPr>
              <a:t></a:t>
            </a:r>
            <a:endParaRPr lang="en-US" sz="120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A28F05-A353-4FE5-C004-86FD04060F5F}"/>
              </a:ext>
            </a:extLst>
          </p:cNvPr>
          <p:cNvCxnSpPr/>
          <p:nvPr/>
        </p:nvCxnSpPr>
        <p:spPr>
          <a:xfrm>
            <a:off x="3037772" y="2516134"/>
            <a:ext cx="98327" cy="877579"/>
          </a:xfrm>
          <a:prstGeom prst="line">
            <a:avLst/>
          </a:prstGeom>
          <a:ln w="76200">
            <a:prstDash val="sysDot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638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95623"/>
            <a:ext cx="82413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000" b="1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comes to updating data outside your source systems…</a:t>
            </a:r>
            <a:endParaRPr lang="en-US" sz="2000" dirty="0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80373C5A-24F4-EBE7-8411-FC57591402A7}"/>
              </a:ext>
            </a:extLst>
          </p:cNvPr>
          <p:cNvSpPr txBox="1">
            <a:spLocks/>
          </p:cNvSpPr>
          <p:nvPr/>
        </p:nvSpPr>
        <p:spPr>
          <a:xfrm>
            <a:off x="253079" y="1126017"/>
            <a:ext cx="5939066" cy="385101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🛠️ Are you a Power App dev?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600"/>
              <a:t>📤 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you like Excel-round trips to export, edit, and re-import?</a:t>
            </a:r>
          </a:p>
          <a:p>
            <a:pPr lvl="1">
              <a:spcBef>
                <a:spcPts val="1200"/>
              </a:spcBef>
            </a:pPr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Don't forget, Excel is a database!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1600">
                <a:latin typeface="Arial" panose="020B0604020202020204" pitchFamily="34" charset="0"/>
              </a:rPr>
              <a:t>💾 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about manually running UPDATE statements?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1600">
                <a:latin typeface="Arial" panose="020B0604020202020204" pitchFamily="34" charset="0"/>
              </a:rPr>
              <a:t>📓 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Anyone for hardcoding in Notebooks?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600"/>
              <a:t>📤 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 have issues with source control in this chaos?</a:t>
            </a:r>
          </a:p>
          <a:p>
            <a:pPr marL="0" indent="0"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your users finally see the update they gave you and then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immediately need a new change, starting the cycle all over?</a:t>
            </a:r>
          </a:p>
          <a:p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2298AA-564C-A918-AD5A-97238E2C5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145" y="1566610"/>
            <a:ext cx="2819794" cy="34104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3CAAB-C7CD-6964-F840-2F5CD165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7A4769-E9D1-1C50-E96B-8545FA3F6677}"/>
              </a:ext>
            </a:extLst>
          </p:cNvPr>
          <p:cNvSpPr/>
          <p:nvPr/>
        </p:nvSpPr>
        <p:spPr>
          <a:xfrm>
            <a:off x="381000" y="695623"/>
            <a:ext cx="49257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Is a Translytical Task Flow?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CE6C58-1A76-C973-AB96-67F55A7FF0CC}"/>
              </a:ext>
            </a:extLst>
          </p:cNvPr>
          <p:cNvSpPr/>
          <p:nvPr/>
        </p:nvSpPr>
        <p:spPr>
          <a:xfrm>
            <a:off x="715239" y="1419523"/>
            <a:ext cx="43873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890"/>
              </a:lnSpc>
              <a:spcBef>
                <a:spcPts val="3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Analyze → Select → Input → Commit → See Changes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B41445-A44B-B53B-C262-E327D1411FC2}"/>
              </a:ext>
            </a:extLst>
          </p:cNvPr>
          <p:cNvSpPr/>
          <p:nvPr/>
        </p:nvSpPr>
        <p:spPr>
          <a:xfrm>
            <a:off x="381000" y="2002334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30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Power BI introduces Translytical Task Flows for immediate action |  Saiprasannakumar M. posted on the topic | LinkedIn">
            <a:extLst>
              <a:ext uri="{FF2B5EF4-FFF2-40B4-BE49-F238E27FC236}">
                <a16:creationId xmlns:a16="http://schemas.microsoft.com/office/drawing/2014/main" id="{62534781-8C27-CE8D-B3D6-F2D6A578F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0"/>
            <a:ext cx="3429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9BC71752-4C15-D785-C099-06CBA349666A}"/>
              </a:ext>
            </a:extLst>
          </p:cNvPr>
          <p:cNvSpPr txBox="1">
            <a:spLocks/>
          </p:cNvSpPr>
          <p:nvPr/>
        </p:nvSpPr>
        <p:spPr>
          <a:xfrm>
            <a:off x="253079" y="1902443"/>
            <a:ext cx="5356059" cy="307459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+ Analytical = Translytical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BI is read-only. You analyze data, but if you need to change something, you leave the report and go somewhere else.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Translytical closes that loop: the analytical tool becomes the transactional interface.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user never leaves Power BI. No export. No separate app. No waiting for a refresh. </a:t>
            </a:r>
            <a:r>
              <a:rPr 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report is both the dashboard and the data entry form.</a:t>
            </a:r>
          </a:p>
        </p:txBody>
      </p:sp>
    </p:spTree>
    <p:extLst>
      <p:ext uri="{BB962C8B-B14F-4D97-AF65-F5344CB8AC3E}">
        <p14:creationId xmlns:p14="http://schemas.microsoft.com/office/powerpoint/2010/main" val="230754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DB047-B836-29B5-2AEF-0B6D8023E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D7253E-C494-240D-230A-147C69F1C263}"/>
              </a:ext>
            </a:extLst>
          </p:cNvPr>
          <p:cNvSpPr/>
          <p:nvPr/>
        </p:nvSpPr>
        <p:spPr>
          <a:xfrm>
            <a:off x="381000" y="695623"/>
            <a:ext cx="82413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spcBef>
                <a:spcPts val="1200"/>
              </a:spcBef>
              <a:defRPr/>
            </a:pPr>
            <a:r>
              <a:rPr lang="en-US" sz="2000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Translytical Task Flows…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2EF47F86-99D2-7F9A-9276-55BB4C74EC57}"/>
              </a:ext>
            </a:extLst>
          </p:cNvPr>
          <p:cNvSpPr txBox="1">
            <a:spLocks/>
          </p:cNvSpPr>
          <p:nvPr/>
        </p:nvSpPr>
        <p:spPr>
          <a:xfrm>
            <a:off x="253078" y="1126017"/>
            <a:ext cx="7902879" cy="385101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👤 Users update their own data — No more "hey can you change this for me?"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📊 Never leave Power BI — Select rows, enter value, click button, done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🔄 Instant feedback — DirectQuery refresh shows changes immediately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📝 Built-in audit trail — CDC history tracks who changed what and when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🔒 Governed access — Role-based permissions control who can edit </a:t>
            </a:r>
          </a:p>
        </p:txBody>
      </p:sp>
    </p:spTree>
    <p:extLst>
      <p:ext uri="{BB962C8B-B14F-4D97-AF65-F5344CB8AC3E}">
        <p14:creationId xmlns:p14="http://schemas.microsoft.com/office/powerpoint/2010/main" val="2636176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22558-2EA0-3513-2FEA-3063056B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A6019E-2748-3943-7429-54E74D46D7BC}"/>
              </a:ext>
            </a:extLst>
          </p:cNvPr>
          <p:cNvSpPr txBox="1"/>
          <p:nvPr/>
        </p:nvSpPr>
        <p:spPr>
          <a:xfrm>
            <a:off x="2427149" y="4881890"/>
            <a:ext cx="67168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https://www.nimblelearn.com/blog/6-things-you-should-know-about-translytical-task-flows-in-microsoft-fabric/</a:t>
            </a:r>
          </a:p>
        </p:txBody>
      </p:sp>
      <p:pic>
        <p:nvPicPr>
          <p:cNvPr id="4098" name="Picture 2" descr="With Translytical Task Flows">
            <a:extLst>
              <a:ext uri="{FF2B5EF4-FFF2-40B4-BE49-F238E27FC236}">
                <a16:creationId xmlns:a16="http://schemas.microsoft.com/office/drawing/2014/main" id="{CBDD855E-233F-FE4A-4F7F-157A7FC8D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16" y="253746"/>
            <a:ext cx="6553369" cy="463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976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87735"/>
            <a:ext cx="54601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I've Actually Implemented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373535"/>
            <a:ext cx="8382000" cy="14859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Pricing / Rate Ops — batch update prices for selected SKUs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Sales Pipeline — mass-update stage, owner, probability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Forecasting — adjust forecasts for multiple rows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Data Quality — fix flags, categories, statuses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Config Management — update control tables from PBI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3240435"/>
            <a:ext cx="8382000" cy="567630"/>
          </a:xfrm>
          <a:prstGeom prst="roundRect">
            <a:avLst>
              <a:gd name="adj" fmla="val 671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0050" y="3240435"/>
            <a:ext cx="0" cy="567630"/>
          </a:xfrm>
          <a:prstGeom prst="line">
            <a:avLst/>
          </a:prstGeom>
          <a:noFill/>
          <a:ln w="38100">
            <a:solidFill>
              <a:srgbClr val="F4D03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571500" y="3430935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later: Examples from others + theoretical possibilities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7180" y="415096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use this </a:t>
            </a:r>
            <a:r>
              <a:rPr lang="en-US" sz="1400" b="1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9791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Development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820341"/>
            <a:ext cx="8382000" cy="689521"/>
          </a:xfrm>
          <a:prstGeom prst="roundRect">
            <a:avLst>
              <a:gd name="adj" fmla="val 552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0050" y="820341"/>
            <a:ext cx="0" cy="689521"/>
          </a:xfrm>
          <a:prstGeom prst="line">
            <a:avLst/>
          </a:prstGeom>
          <a:noFill/>
          <a:ln w="38100">
            <a:solidFill>
              <a:srgbClr val="F4D03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33400" y="972741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Disclosure: This project was AI-assisted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3400" y="1197471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development, documentation, and even this presentation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1852761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Strong Opinion: </a:t>
            </a:r>
            <a:r>
              <a:rPr lang="en-US" sz="1400" b="1" u="sng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best for coding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2267992"/>
            <a:ext cx="83820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follows directions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when it doesn't know things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make </a:t>
            </a:r>
            <a:r>
              <a:rPr lang="en-US" sz="140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up (AKA lie and send you down a rabbit hole)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3487192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What's in the Repo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3902422"/>
            <a:ext cx="838200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Heavily commented code (explains the "why")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PBIP file for config examination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000" y="4740622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38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github.com/imtkain/Fabric-Redux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C6339A-C287-E5BC-5417-DA82D58FE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207" y="1779950"/>
            <a:ext cx="2638793" cy="2648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8D4460-6AD9-C4B0-0E3B-46804465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48" y="11430"/>
            <a:ext cx="7591905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04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524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Environment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238250"/>
            <a:ext cx="8382000" cy="14859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Tuatara Sandbox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Warehouse: WH_testing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Tables: dim_price, dim_price_history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Sprocs: usp_insert/update/delete/reactivate_price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UDF Item: udf_testing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3105150"/>
            <a:ext cx="8382000" cy="491430"/>
          </a:xfrm>
          <a:prstGeom prst="roundRect">
            <a:avLst>
              <a:gd name="adj" fmla="val 7753"/>
            </a:avLst>
          </a:prstGeom>
          <a:solidFill>
            <a:srgbClr val="0D1F0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0050" y="3105150"/>
            <a:ext cx="0" cy="491430"/>
          </a:xfrm>
          <a:prstGeom prst="line">
            <a:avLst/>
          </a:prstGeom>
          <a:noFill/>
          <a:ln w="381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533400" y="3257550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38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Supported: Fabric Warehouse, Fabric SQL Database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901380"/>
            <a:ext cx="8382000" cy="689521"/>
          </a:xfrm>
          <a:prstGeom prst="roundRect">
            <a:avLst>
              <a:gd name="adj" fmla="val 5526"/>
            </a:avLst>
          </a:prstGeom>
          <a:solidFill>
            <a:srgbClr val="1A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0050" y="3901380"/>
            <a:ext cx="0" cy="689521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33400" y="4053780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NOT Supported: Lakehouse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3400" y="4278511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analytics endpoint is read-only by design (we'll cover why later)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5562" y="988665"/>
            <a:ext cx="872877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5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392781" y="2329755"/>
            <a:ext cx="2358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721742" y="3129855"/>
            <a:ext cx="17005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it in action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71630" y="3968055"/>
            <a:ext cx="42007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Visual • Card Visuals • Text Slicer • Button + UDF • CDC History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6BDD2-9CF5-D747-4C1D-37246A53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22164A-0980-E3EF-0477-488306EFAB6F}"/>
              </a:ext>
            </a:extLst>
          </p:cNvPr>
          <p:cNvSpPr/>
          <p:nvPr/>
        </p:nvSpPr>
        <p:spPr>
          <a:xfrm>
            <a:off x="381000" y="33144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PBI Visual Checklist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B88601-F1C8-37FA-2E6F-3D2B88767F7A}"/>
              </a:ext>
            </a:extLst>
          </p:cNvPr>
          <p:cNvSpPr/>
          <p:nvPr/>
        </p:nvSpPr>
        <p:spPr>
          <a:xfrm>
            <a:off x="381000" y="979140"/>
            <a:ext cx="4970388" cy="383292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BBD23308-B3D7-24EB-E467-AFC5DD052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22" y="760700"/>
            <a:ext cx="4970388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📊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Table Visual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— User selects rows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🔢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Card: Selected Row Count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— Shows count of selected rows (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COUNTROWS(VALUES(...))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Card: Concatenated IDs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— Displays the comma-delimited ID string (your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Selected Records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measure)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✏️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Slicer(s)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— One Text slicer for each field you're updating (price, status, etc.)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🔘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Button(s)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— One per operation (Update, Delete, Reactivate, etc.)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Action type: Run function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ids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param: bind via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fx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your concatenated IDs measure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Other params: bind to slicers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Only executable when all necessary slicers populated!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7C9F186-228F-DD3C-6594-7B0F5C983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972" y="160960"/>
            <a:ext cx="2085316" cy="11709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C1083A3-3FF1-41CA-8A1A-BB8DBE075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041" y="1439256"/>
            <a:ext cx="1395557" cy="352899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F85CA20-E00C-E86F-A129-E129A17DE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662" y="1429482"/>
            <a:ext cx="1379517" cy="355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08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93514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Critical: Button Wiring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0999" y="1141214"/>
            <a:ext cx="3864865" cy="1108472"/>
          </a:xfrm>
          <a:prstGeom prst="roundRect">
            <a:avLst>
              <a:gd name="adj" fmla="val 3437"/>
            </a:avLst>
          </a:prstGeom>
          <a:solidFill>
            <a:srgbClr val="1A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0050" y="1141214"/>
            <a:ext cx="0" cy="1108472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71500" y="1258070"/>
            <a:ext cx="81998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</a:t>
            </a:r>
            <a:r>
              <a:rPr lang="en-US" sz="1400" b="1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where some people get stuck</a:t>
            </a:r>
            <a:r>
              <a:rPr lang="en-US" sz="1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1500" y="1488262"/>
            <a:ext cx="3607737" cy="601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2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 for parameters in </a:t>
            </a: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→ Action only shows slicers.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1872555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click the fx button to bind a measure.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287786"/>
            <a:ext cx="3914837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>
              <a:lnSpc>
                <a:spcPts val="2100"/>
              </a:lnSpc>
              <a:buSzPct val="100000"/>
            </a:pPr>
            <a:r>
              <a:rPr lang="en-US" sz="11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automatically become visible after selecting the function</a:t>
            </a:r>
          </a:p>
          <a:p>
            <a:pPr marL="114300" indent="-114300">
              <a:lnSpc>
                <a:spcPts val="2100"/>
              </a:lnSpc>
              <a:buSzPct val="100000"/>
              <a:buFontTx/>
              <a:buChar char="•"/>
            </a:pPr>
            <a:r>
              <a:rPr lang="en-US" sz="11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ids parameter — Click fx → Select "Selected Records" measure</a:t>
            </a:r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1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parameter — Select Text slicer from dropdown (works normally)</a:t>
            </a:r>
            <a:endParaRPr lang="en-US" sz="1100" dirty="0"/>
          </a:p>
          <a:p>
            <a:pPr marL="114300" indent="-114300">
              <a:lnSpc>
                <a:spcPts val="2100"/>
              </a:lnSpc>
              <a:buSzPct val="100000"/>
              <a:buChar char="•"/>
            </a:pPr>
            <a:r>
              <a:rPr lang="en-US" sz="11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Recommend these ON</a:t>
            </a:r>
          </a:p>
          <a:p>
            <a:pPr marL="571500" lvl="1" indent="-114300">
              <a:lnSpc>
                <a:spcPts val="2100"/>
              </a:lnSpc>
              <a:buSzPct val="100000"/>
              <a:buChar char="•"/>
            </a:pPr>
            <a:r>
              <a:rPr lang="en-US" sz="11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"Refresh the report" – requeries to refresh visuals</a:t>
            </a:r>
          </a:p>
          <a:p>
            <a:pPr marL="571500" lvl="1" indent="-114300">
              <a:lnSpc>
                <a:spcPts val="2100"/>
              </a:lnSpc>
              <a:buSzPct val="100000"/>
              <a:buChar char="•"/>
            </a:pPr>
            <a:r>
              <a:rPr lang="en-US" sz="11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"Auto clear" – clears your slicers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AE389A-CB29-BA48-3684-0DABF1D09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314" y="318773"/>
            <a:ext cx="1695687" cy="45059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6E1BB6-D178-EEF5-5FB6-D5CAF3F11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686" y="318773"/>
            <a:ext cx="2779145" cy="18606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E05A38-4E5F-538F-F315-418762F7C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2240" y="2392480"/>
            <a:ext cx="1560591" cy="11045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031B44-3216-FE7A-850C-A412BAC9A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277" y="3710146"/>
            <a:ext cx="1152686" cy="11145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591CD31-E9DA-504E-75D0-E00AF6AD41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9157" y="4757869"/>
            <a:ext cx="1486107" cy="3048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3FC088A-F542-FCE9-8366-8208EE3AA0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786447"/>
            <a:ext cx="1486107" cy="2476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8A4A781-A07F-48A7-C402-29A04E40F6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3251" y="2701845"/>
            <a:ext cx="628738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144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 &amp; Guardrails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79140"/>
            <a:ext cx="8382000" cy="280035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2925" y="1179165"/>
            <a:ext cx="8219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FF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Records =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2925" y="1483965"/>
            <a:ext cx="8219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t_ids = VALUES( dim_price[sku] 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2925" y="1788765"/>
            <a:ext cx="8219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id_count = [Selected ID Count]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2925" y="2093565"/>
            <a:ext cx="8219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IF(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2925" y="2398365"/>
            <a:ext cx="8219313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id_count &gt; 5,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2925" y="2703165"/>
            <a:ext cx="8219313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A5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"Too many records selected, max 5"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2925" y="3007965"/>
            <a:ext cx="8219313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CONCATENATEX( t_ids, dim_price[sku], "," 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2925" y="3312765"/>
            <a:ext cx="8219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1000" y="4122390"/>
            <a:ext cx="8382000" cy="689521"/>
          </a:xfrm>
          <a:prstGeom prst="roundRect">
            <a:avLst>
              <a:gd name="adj" fmla="val 5526"/>
            </a:avLst>
          </a:prstGeom>
          <a:solidFill>
            <a:srgbClr val="2D1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0050" y="4122390"/>
            <a:ext cx="0" cy="689521"/>
          </a:xfrm>
          <a:prstGeom prst="line">
            <a:avLst/>
          </a:prstGeom>
          <a:noFill/>
          <a:ln w="38100">
            <a:solidFill>
              <a:srgbClr val="F4D03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533400" y="4274790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5-row guardrail prevents "update all" accidents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3400" y="4499521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to your org's risk tolerance — but HAVE one. Users WILL make mistakes.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31614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UDF: Connection Setup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160264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Fabric Portal: Edit → Manage connections → Create alias (e.g., "demo")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6192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Decorator Stack: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2002036"/>
            <a:ext cx="8382000" cy="1466850"/>
          </a:xfrm>
          <a:prstGeom prst="roundRect">
            <a:avLst>
              <a:gd name="adj" fmla="val 389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5775" y="2144911"/>
            <a:ext cx="833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@udf.connection("demo")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5775" y="2449711"/>
            <a:ext cx="833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@udf.context(argName="ctx")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5775" y="2754511"/>
            <a:ext cx="833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@udf.function()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5775" y="3059311"/>
            <a:ext cx="833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udf_update_price(demo, ctx, ids, price):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1000" y="4440436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Python 3.11 runtime (NOT PySpark) • Parameters cannot use snake_case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47D695-901E-96A0-925A-390736041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760098"/>
            <a:ext cx="1647287" cy="3891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0AF35F-F4AF-91AD-8421-079DF54BC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752" y="3552567"/>
            <a:ext cx="5214248" cy="8041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95300"/>
            <a:ext cx="4799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UDF: Calling the Stored Procedure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085850"/>
            <a:ext cx="8382000" cy="2381250"/>
          </a:xfrm>
          <a:prstGeom prst="roundRect">
            <a:avLst>
              <a:gd name="adj" fmla="val 24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5775" y="1228725"/>
            <a:ext cx="833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Three-part naming REQUIRED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85775" y="1533525"/>
            <a:ext cx="833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= """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5775" y="1838325"/>
            <a:ext cx="8335899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WH_testing.dbo.usp_update_price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5775" y="2143125"/>
            <a:ext cx="8335899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@id_list = ?, @price = ?, @user_name = ?;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5775" y="2447925"/>
            <a:ext cx="833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"""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5775" y="2752725"/>
            <a:ext cx="833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cur.execute(sql, (ids, price, user_name))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5775" y="3057525"/>
            <a:ext cx="833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conn.commit()  # REQUIRED!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3771900"/>
            <a:ext cx="83820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350" b="1" u="sng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Three-part</a:t>
            </a:r>
            <a:r>
              <a:rPr lang="en-US" sz="135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naming required for EXEC: Database.Schema.Object</a:t>
            </a:r>
            <a:endParaRPr lang="en-US" sz="1350" b="1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Parameters are positional (?) — order matters!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conn.commit() is mandatory — without it, transaction rolls back!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5864"/>
            <a:ext cx="47217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Procedure: STRING_SPLIT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836414"/>
            <a:ext cx="8382000" cy="3028950"/>
          </a:xfrm>
          <a:prstGeom prst="roundRect">
            <a:avLst>
              <a:gd name="adj" fmla="val 1887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4825" y="998339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cte_sku_list AS (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4825" y="1303139"/>
            <a:ext cx="8297037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CAST(value AS BIGINT) AS sku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4825" y="1607939"/>
            <a:ext cx="8297037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STRING_SPLIT(@id_list, ',')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4825" y="1912739"/>
            <a:ext cx="8297037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RTRIM(LTRIM(value)) &lt;&gt; ''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4825" y="2217539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4825" y="2522339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 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4825" y="2827139"/>
            <a:ext cx="8297037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t.price = @price, t.updated_at = @timestamp...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4825" y="3131939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dim_price 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4825" y="3436739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 cte_sku_list c ON t.sku = c.sku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1000" y="4208264"/>
            <a:ext cx="8382000" cy="689521"/>
          </a:xfrm>
          <a:prstGeom prst="roundRect">
            <a:avLst>
              <a:gd name="adj" fmla="val 552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0050" y="4208264"/>
            <a:ext cx="0" cy="689521"/>
          </a:xfrm>
          <a:prstGeom prst="line">
            <a:avLst/>
          </a:prstGeom>
          <a:noFill/>
          <a:ln w="38100">
            <a:solidFill>
              <a:srgbClr val="F4D03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533400" y="4360664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This is the T-SQL half of the CONCATENATEX + STRING_SPLIT pattern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3400" y="4585395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pattern: BEGIN TRAN / TRY-CATCH / COMMIT / ROLLBACK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2935"/>
            <a:ext cx="54018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CDC: History Table &amp; Restore 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106835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operation writes to dim_price_history: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624905"/>
            <a:ext cx="83820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row state at time of operation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operation_type: INSERT, UPDATE, DELETE, REACTIVATE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operation_timestamp, updated_by (user who made change)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2920305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vw_dim_price_history — composite key for restore points: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3335536"/>
            <a:ext cx="8382000" cy="590550"/>
          </a:xfrm>
          <a:prstGeom prst="roundRect">
            <a:avLst>
              <a:gd name="adj" fmla="val 9677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4825" y="3497461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sku_version: "1001 (3)" — SKU 1001, version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4268986"/>
            <a:ext cx="8382000" cy="491430"/>
          </a:xfrm>
          <a:prstGeom prst="roundRect">
            <a:avLst>
              <a:gd name="adj" fmla="val 7753"/>
            </a:avLst>
          </a:prstGeom>
          <a:solidFill>
            <a:srgbClr val="2D1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0050" y="4268986"/>
            <a:ext cx="0" cy="491430"/>
          </a:xfrm>
          <a:prstGeom prst="line">
            <a:avLst/>
          </a:prstGeom>
          <a:noFill/>
          <a:ln w="38100">
            <a:solidFill>
              <a:srgbClr val="F4D03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33400" y="4421386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400" b="1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DBAs may </a:t>
            </a:r>
            <a:r>
              <a:rPr lang="en-US" sz="14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audit trails. Build CDC in from day one.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056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21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DirectQuery Datetime Gotcha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856506"/>
            <a:ext cx="8382000" cy="689521"/>
          </a:xfrm>
          <a:prstGeom prst="roundRect">
            <a:avLst>
              <a:gd name="adj" fmla="val 5526"/>
            </a:avLst>
          </a:prstGeom>
          <a:solidFill>
            <a:srgbClr val="1A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0050" y="856506"/>
            <a:ext cx="0" cy="689521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33400" y="1008906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 hit when initially conceiving this idea: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3400" y="1233636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row selections worked, others silently failed. No error — just BLANK.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1869877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2252663"/>
            <a:ext cx="83820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datetime2(6) retains sub-second precision in DAX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DirectQuery SQL truncates to seconds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 comparison fails → silent cross-filter failure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3433763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238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Solution: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3816548"/>
            <a:ext cx="8382000" cy="552450"/>
          </a:xfrm>
          <a:prstGeom prst="roundRect">
            <a:avLst>
              <a:gd name="adj" fmla="val 10345"/>
            </a:avLst>
          </a:prstGeom>
          <a:solidFill>
            <a:srgbClr val="0D1F0D"/>
          </a:solidFill>
          <a:ln w="9525">
            <a:solidFill>
              <a:srgbClr val="23863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5775" y="3959423"/>
            <a:ext cx="833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[created_at] [datetime2(0)] -- NOT datetime2(6)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1000" y="4654748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Undocumented silent failure. Fabric doesn't support datetime — use datetime2(0).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80132"/>
            <a:ext cx="61670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UDF </a:t>
            </a:r>
            <a:r>
              <a:rPr lang="en-US" sz="2000" b="1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Constraints and Testing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1265932"/>
            <a:ext cx="83820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timeout: </a:t>
            </a:r>
            <a:r>
              <a:rPr lang="en-US" sz="14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seconds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size: 30 MB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payload: 4 MB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Authentication: </a:t>
            </a:r>
            <a:r>
              <a:rPr lang="en-US" sz="1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context only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2828032"/>
            <a:ext cx="5105400" cy="689521"/>
          </a:xfrm>
          <a:prstGeom prst="roundRect">
            <a:avLst>
              <a:gd name="adj" fmla="val 5526"/>
            </a:avLst>
          </a:prstGeom>
          <a:solidFill>
            <a:srgbClr val="1A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0050" y="2828032"/>
            <a:ext cx="0" cy="689521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533400" y="2980432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en-US" sz="1400" b="1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SPN, </a:t>
            </a:r>
            <a:r>
              <a:rPr lang="en-US" sz="1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managed identity, no workspace identity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3400" y="3205163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User's permissions apply to everything — including </a:t>
            </a:r>
            <a:r>
              <a:rPr lang="en-US" sz="140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1" y="3669954"/>
            <a:ext cx="4761732" cy="1386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b="1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Debugging</a:t>
            </a:r>
          </a:p>
          <a:p>
            <a:pPr marL="114300" indent="-114300">
              <a:lnSpc>
                <a:spcPts val="2100"/>
              </a:lnSpc>
              <a:buSzPct val="100000"/>
              <a:buChar char="•"/>
            </a:pPr>
            <a:r>
              <a:rPr lang="en-US" sz="14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that you can test from within the Fabric UDF UI</a:t>
            </a:r>
          </a:p>
          <a:p>
            <a:pPr marL="114300" indent="-114300">
              <a:lnSpc>
                <a:spcPts val="2100"/>
              </a:lnSpc>
              <a:buSzPct val="100000"/>
              <a:buChar char="•"/>
            </a:pPr>
            <a:r>
              <a:rPr lang="en-US" sz="14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over the function and click the flask</a:t>
            </a:r>
          </a:p>
          <a:p>
            <a:pPr marL="114300" indent="-114300">
              <a:lnSpc>
                <a:spcPts val="2100"/>
              </a:lnSpc>
              <a:buSzPct val="100000"/>
              <a:buChar char="•"/>
            </a:pPr>
            <a:r>
              <a:rPr lang="en-US" sz="14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values you want to test – good detail on errors</a:t>
            </a:r>
          </a:p>
          <a:p>
            <a:pPr marL="114300" indent="-114300">
              <a:lnSpc>
                <a:spcPts val="2100"/>
              </a:lnSpc>
              <a:buSzPct val="100000"/>
              <a:buChar char="•"/>
            </a:pPr>
            <a:r>
              <a:rPr lang="en-US" sz="140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success/failure of custom error messages, too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38D661-4136-F0BF-2FC5-A466AF832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31" y="1816526"/>
            <a:ext cx="1961997" cy="559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64EB92-DB1F-FA71-DD73-D38152DE2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863" y="37205"/>
            <a:ext cx="327313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75481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 of the Possible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61281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UDFs run on Python 3.11 — any HTTP-accessible service becomes a potential integration point.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490811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by Others: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906042"/>
            <a:ext cx="83820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— AI suggestions from button click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 — Teams posts, emails, M365 workflows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REST APIs — Any HTTP endpoint via requests library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Activator — Event-driven UDF triggers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3430042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(No PoC Yet):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845272"/>
            <a:ext cx="838200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Automate via HTTP triggers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REST API orchestration (trigger pipelines from UDF)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4683472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to TTF Gallery in repo README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2425" y="1013520"/>
            <a:ext cx="47990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Key Vault Credential Warning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50195" y="1775520"/>
            <a:ext cx="3643610" cy="1325612"/>
          </a:xfrm>
          <a:prstGeom prst="roundRect">
            <a:avLst>
              <a:gd name="adj" fmla="val 2874"/>
            </a:avLst>
          </a:prstGeom>
          <a:solidFill>
            <a:srgbClr val="2D1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69245" y="1775520"/>
            <a:ext cx="0" cy="1325612"/>
          </a:xfrm>
          <a:prstGeom prst="line">
            <a:avLst/>
          </a:prstGeom>
          <a:noFill/>
          <a:ln w="38100">
            <a:solidFill>
              <a:srgbClr val="F4D03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2985412" y="2042220"/>
            <a:ext cx="321127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 integration exists, BUT...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85412" y="2396430"/>
            <a:ext cx="32112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invoking user must have Key Vault access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85412" y="2647801"/>
            <a:ext cx="32112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(Get permission on secrets)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16200" y="3558332"/>
            <a:ext cx="491160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Not a service identity — UDFs run in user context only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Each button-clicker needs Key Vault permissions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6107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Lakehouse?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108770"/>
            <a:ext cx="8382000" cy="1066651"/>
          </a:xfrm>
          <a:prstGeom prst="roundRect">
            <a:avLst>
              <a:gd name="adj" fmla="val 3572"/>
            </a:avLst>
          </a:prstGeom>
          <a:solidFill>
            <a:srgbClr val="1A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0050" y="1108770"/>
            <a:ext cx="0" cy="1066651"/>
          </a:xfrm>
          <a:prstGeom prst="line">
            <a:avLst/>
          </a:prstGeom>
          <a:noFill/>
          <a:ln w="381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71500" y="1299270"/>
            <a:ext cx="81998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analytics endpoint is READ-ONLY by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1500" y="1588740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"DML statements are not supported for this table type"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824930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architectural, not a temporary limitation.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2556421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Workarounds Exist But Add Complexity: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2971651"/>
            <a:ext cx="83820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delta-rs, Polars — require service principal auth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V-ORDER optimization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or scheduled VACUUM/OPTIMIZE maintenance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4190851"/>
            <a:ext cx="8382000" cy="491430"/>
          </a:xfrm>
          <a:prstGeom prst="roundRect">
            <a:avLst>
              <a:gd name="adj" fmla="val 7753"/>
            </a:avLst>
          </a:prstGeom>
          <a:solidFill>
            <a:srgbClr val="0D1F0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0050" y="4190851"/>
            <a:ext cx="0" cy="491430"/>
          </a:xfrm>
          <a:prstGeom prst="line">
            <a:avLst/>
          </a:prstGeom>
          <a:noFill/>
          <a:ln w="381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33400" y="4343251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38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Recommendation: Use Warehouse or SQL Database for TTF write-back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322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0712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UDF Permissions: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460450"/>
            <a:ext cx="2588432" cy="48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user groups to function's accessibility settings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976586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Permissions: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2391817"/>
            <a:ext cx="6096000" cy="895350"/>
          </a:xfrm>
          <a:prstGeom prst="roundRect">
            <a:avLst>
              <a:gd name="adj" fmla="val 638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4825" y="2553742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ROLE price_editors;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4825" y="2858542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INSERT, UPDATE, DELETE ON dbo.dim_price TO price_editors;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3303" y="3630067"/>
            <a:ext cx="6043698" cy="676126"/>
          </a:xfrm>
          <a:prstGeom prst="roundRect">
            <a:avLst>
              <a:gd name="adj" fmla="val 563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0050" y="3630067"/>
            <a:ext cx="0" cy="676126"/>
          </a:xfrm>
          <a:prstGeom prst="line">
            <a:avLst/>
          </a:prstGeom>
          <a:noFill/>
          <a:ln w="38100">
            <a:solidFill>
              <a:srgbClr val="F4D03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76643" y="3782467"/>
            <a:ext cx="68409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Principle of Least Privilege: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643" y="3993803"/>
            <a:ext cx="68409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user group (click ... on warehouse) → uncheck all "additional permissions"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4649093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Test both successful execution AND denied access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EC7B1A-8219-2344-E754-245FF294D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32" y="321171"/>
            <a:ext cx="6096000" cy="19253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80AA18-4072-498D-1A6B-A3D991C4D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746" y="2342722"/>
            <a:ext cx="1809429" cy="275168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825847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511647"/>
            <a:ext cx="83820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GitHub: </a:t>
            </a:r>
            <a:r>
              <a:rPr lang="en-US" sz="14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github.com/imtkain/Fabric-Redux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Microsoft TTF Docs, UDF Docs, Service Limits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TTF Gallery (community examples)</a:t>
            </a:r>
            <a:endParaRPr lang="en-US" sz="14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LinkedIn Article: "Multi-row Translytical Task Flows in Microsoft Fabric"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3073747"/>
            <a:ext cx="8382000" cy="676126"/>
          </a:xfrm>
          <a:prstGeom prst="roundRect">
            <a:avLst>
              <a:gd name="adj" fmla="val 563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0050" y="3073747"/>
            <a:ext cx="0" cy="676126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533400" y="3226147"/>
            <a:ext cx="82776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Approach </a:t>
            </a:r>
            <a:r>
              <a:rPr lang="en-US" sz="1400" b="1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Reading, </a:t>
            </a:r>
            <a:r>
              <a:rPr lang="en-US" sz="1400" b="1" u="sng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probably better for APIs</a:t>
            </a:r>
            <a:r>
              <a:rPr lang="en-US" sz="1400" b="1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3400" y="3437483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evaluationcontext.github.io/posts/translytical-rows/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7180" y="4092773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links available in the repo README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5562" y="470595"/>
            <a:ext cx="872877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5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289402" y="1811685"/>
            <a:ext cx="2565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18824" y="2611785"/>
            <a:ext cx="1106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55753" y="3449985"/>
            <a:ext cx="83234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Kain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42495" y="3956596"/>
            <a:ext cx="26590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Data Consultant | Tuatara Consulting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77833" y="4486126"/>
            <a:ext cx="19881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github.com/imtkain/Fabric-Redux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2762</TotalTime>
  <Words>1853</Words>
  <Application>Microsoft Office PowerPoint</Application>
  <PresentationFormat>On-screen Show (16:9)</PresentationFormat>
  <Paragraphs>236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Arial Unicode MS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Tuatara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Write-Back in Power BI Is Finally Here!</dc:title>
  <dc:subject>Translytical Task Flows in Microsoft Fabric</dc:subject>
  <dc:creator>Tony Kain</dc:creator>
  <cp:lastModifiedBy>Tony Kain</cp:lastModifiedBy>
  <cp:revision>11</cp:revision>
  <dcterms:created xsi:type="dcterms:W3CDTF">2026-01-13T16:32:34Z</dcterms:created>
  <dcterms:modified xsi:type="dcterms:W3CDTF">2026-01-16T11:38:12Z</dcterms:modified>
</cp:coreProperties>
</file>